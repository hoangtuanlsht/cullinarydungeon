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8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A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A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640312" y="0"/>
            <a:ext cx="548640" cy="6858000"/>
          </a:xfrm>
          <a:prstGeom prst="rect">
            <a:avLst/>
          </a:prstGeom>
          <a:solidFill>
            <a:srgbClr val="1A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74320"/>
            <a:ext cx="10725912" cy="36576"/>
          </a:xfrm>
          <a:prstGeom prst="rect">
            <a:avLst/>
          </a:prstGeom>
          <a:solidFill>
            <a:srgbClr val="A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1148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080C0"/>
                </a:solidFill>
                <a:latin typeface="Segoe UI"/>
              </a:rPr>
              <a:t>ĐẠI HỌC THỦY LỢI — KHOA CÔNG NGHỆ THÔNG TIN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0584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Segoe UI"/>
              </a:rPr>
              <a:t>THIẾT KẾ VÀ PHÁT TRIỂN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DE8D0"/>
                </a:solidFill>
                <a:latin typeface="Segoe UI"/>
              </a:rPr>
              <a:t>TRÒ CHƠI 2D KHÁM PHÁ HẦM NGỤC KẾT HỢP NẤU ĂN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2651760"/>
            <a:ext cx="5788152" cy="822960"/>
          </a:xfrm>
          <a:prstGeom prst="rect">
            <a:avLst/>
          </a:prstGeom>
          <a:solidFill>
            <a:srgbClr val="2A1055"/>
          </a:solidFill>
          <a:ln w="25400">
            <a:solidFill>
              <a:srgbClr val="E8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2697480"/>
            <a:ext cx="5788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8A01E"/>
                </a:solidFill>
                <a:latin typeface="Segoe UI"/>
              </a:rPr>
              <a:t>✦  CULINARIA ABYSS  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657600"/>
            <a:ext cx="9445752" cy="27432"/>
          </a:xfrm>
          <a:prstGeom prst="rect">
            <a:avLst/>
          </a:prstGeom>
          <a:solidFill>
            <a:srgbClr val="A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94760"/>
            <a:ext cx="10725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👤  Sinh viên:  HOÀNG MINH TUẤN  —  MSSV: 2251061914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60520"/>
            <a:ext cx="10725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4C8F0"/>
                </a:solidFill>
                <a:latin typeface="Segoe UI"/>
              </a:rPr>
              <a:t>🏛️  Lớp: 64CNTT3   |   Ngành: Công nghệ Phần mềm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10725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4C8F0"/>
                </a:solidFill>
                <a:latin typeface="Segoe UI"/>
              </a:rPr>
              <a:t>👨‍🏫  GVHD: ThS. Trương Xuân Nam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92040"/>
            <a:ext cx="10725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070B0"/>
                </a:solidFill>
                <a:latin typeface="Segoe UI"/>
              </a:rPr>
              <a:t>📅  Hà Nội, tháng 7 năm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5943600"/>
            <a:ext cx="1581912" cy="320040"/>
          </a:xfrm>
          <a:prstGeom prst="rect">
            <a:avLst/>
          </a:prstGeom>
          <a:solidFill>
            <a:srgbClr val="222222"/>
          </a:solidFill>
          <a:ln w="12700">
            <a:solidFill>
              <a:srgbClr val="3DE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5961888"/>
            <a:ext cx="1581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DE8D0"/>
                </a:solidFill>
                <a:latin typeface="Segoe UI"/>
              </a:rPr>
              <a:t>🎮 Unity Engine  |  C#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A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0" y="91440"/>
            <a:ext cx="667512" cy="365760"/>
          </a:xfrm>
          <a:prstGeom prst="rect">
            <a:avLst/>
          </a:prstGeom>
          <a:solidFill>
            <a:srgbClr val="A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67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A01E"/>
                </a:solidFill>
                <a:latin typeface="Segoe UI"/>
              </a:rPr>
              <a:t>🔍  MỞ ĐẦU &amp; BỐI CẢNH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777240"/>
            <a:ext cx="10972800" cy="36576"/>
          </a:xfrm>
          <a:prstGeom prst="rect">
            <a:avLst/>
          </a:prstGeom>
          <a:solidFill>
            <a:srgbClr val="E8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5394960" cy="5303520"/>
          </a:xfrm>
          <a:prstGeom prst="rect">
            <a:avLst/>
          </a:prstGeom>
          <a:solidFill>
            <a:srgbClr val="1E1A3A"/>
          </a:solidFill>
          <a:ln w="12700">
            <a:solidFill>
              <a:srgbClr val="A0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51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A01E"/>
                </a:solidFill>
                <a:latin typeface="Segoe UI"/>
              </a:rPr>
              <a:t>⚔️  ĐẶT VẤN ĐỀ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5212080" cy="27432"/>
          </a:xfrm>
          <a:prstGeom prst="rect">
            <a:avLst/>
          </a:prstGeom>
          <a:solidFill>
            <a:srgbClr val="A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645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C8F0"/>
                </a:solidFill>
                <a:latin typeface="Segoe UI"/>
              </a:rPr>
              <a:t>📈 Thị trường game toàn cầu tăng trưởng mạnh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9476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C8F0"/>
                </a:solidFill>
                <a:latin typeface="Segoe UI"/>
              </a:rPr>
              <a:t>    → 2023: ~$200 tỷ USD doanh thu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55117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C8F0"/>
                </a:solidFill>
                <a:latin typeface="Segoe UI"/>
              </a:rPr>
              <a:t>🎮 Dungeon Crawler là thể loại game có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8529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C8F0"/>
                </a:solidFill>
                <a:latin typeface="Segoe UI"/>
              </a:rPr>
              <a:t>    lịch sử lâu đời nhưng luôn được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1546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C8F0"/>
                </a:solidFill>
                <a:latin typeface="Segoe UI"/>
              </a:rPr>
              <a:t>    người chơi yêu thích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75818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C8F0"/>
                </a:solidFill>
                <a:latin typeface="Segoe UI"/>
              </a:rPr>
              <a:t>🍳 Kết hợp nấu ăn + khám phá hầm ngục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05993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C8F0"/>
                </a:solidFill>
                <a:latin typeface="Segoe UI"/>
              </a:rPr>
              <a:t>    → Ý tưởng mới mẻ, chưa phổ biến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663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C8F0"/>
                </a:solidFill>
                <a:latin typeface="Segoe UI"/>
              </a:rPr>
              <a:t>🛠️ Thực hành kỹ năng lập trình Unity/C#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9651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C8F0"/>
                </a:solidFill>
                <a:latin typeface="Segoe UI"/>
              </a:rPr>
              <a:t>    và áp dụng Design Patterns vào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26694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4C8F0"/>
                </a:solidFill>
                <a:latin typeface="Segoe UI"/>
              </a:rPr>
              <a:t>    dự án thực tế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960120"/>
            <a:ext cx="5943600" cy="5303520"/>
          </a:xfrm>
          <a:prstGeom prst="rect">
            <a:avLst/>
          </a:prstGeom>
          <a:solidFill>
            <a:srgbClr val="1E1A3A"/>
          </a:solidFill>
          <a:ln w="12700">
            <a:solidFill>
              <a:srgbClr val="3DE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10515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DE8D0"/>
                </a:solidFill>
                <a:latin typeface="Segoe UI"/>
              </a:rPr>
              <a:t>🎯  MỤC TIÊU ĐỒ ÁN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1508760"/>
            <a:ext cx="5760720" cy="27432"/>
          </a:xfrm>
          <a:prstGeom prst="rect">
            <a:avLst/>
          </a:prstGeom>
          <a:solidFill>
            <a:srgbClr val="3D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16916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✅  Xây dựng game 2D Action RPG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194767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90D0"/>
                </a:solidFill>
                <a:latin typeface="Segoe UI"/>
              </a:rPr>
              <a:t>     hoàn chỉnh trên Unity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23774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✅  Kết hợp hệ thống Nấu ăn/Chế tạo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263347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90D0"/>
                </a:solidFill>
                <a:latin typeface="Segoe UI"/>
              </a:rPr>
              <a:t>     vào vòng lặp Dungeon Crawler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30632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✅  Áp dụng Design Patterns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331927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90D0"/>
                </a:solidFill>
                <a:latin typeface="Segoe UI"/>
              </a:rPr>
              <a:t>     (Singleton, FSM, Observer...)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37490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✅  6 tầng hầm ngục + Sảnh hội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400507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90D0"/>
                </a:solidFill>
                <a:latin typeface="Segoe UI"/>
              </a:rPr>
              <a:t>     với độ khó tăng dần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4348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✅  13+ quái vật, 3 Boss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469087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90D0"/>
                </a:solidFill>
                <a:latin typeface="Segoe UI"/>
              </a:rPr>
              <a:t>     với AI Finite State Machine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51206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✅  Hệ thống Inventory 30 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5376672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90D0"/>
                </a:solidFill>
                <a:latin typeface="Segoe UI"/>
              </a:rPr>
              <a:t>     &amp; Shop giao dịch vật phẩm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8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0" y="91440"/>
            <a:ext cx="667512" cy="365760"/>
          </a:xfrm>
          <a:prstGeom prst="rect">
            <a:avLst/>
          </a:prstGeom>
          <a:solidFill>
            <a:srgbClr val="E8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67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0D1A"/>
                </a:solidFill>
                <a:latin typeface="Segoe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A05CFF"/>
                </a:solidFill>
                <a:latin typeface="Segoe UI"/>
              </a:rPr>
              <a:t>⚙️  CÔNG NGHỆ &amp; CÔNG CỤ SỬ DỤNG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777240"/>
            <a:ext cx="10972800" cy="36576"/>
          </a:xfrm>
          <a:prstGeom prst="rect">
            <a:avLst/>
          </a:prstGeom>
          <a:solidFill>
            <a:srgbClr val="A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05840"/>
            <a:ext cx="2834640" cy="2286000"/>
          </a:xfrm>
          <a:prstGeom prst="rect">
            <a:avLst/>
          </a:prstGeom>
          <a:solidFill>
            <a:srgbClr val="1E1A3A"/>
          </a:solidFill>
          <a:ln w="25400">
            <a:solidFill>
              <a:srgbClr val="E8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Segoe UI"/>
              </a:rPr>
              <a:t>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A01E"/>
                </a:solidFill>
                <a:latin typeface="Segoe UI"/>
              </a:rPr>
              <a:t>Unity Engine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993392"/>
            <a:ext cx="1920240" cy="27432"/>
          </a:xfrm>
          <a:prstGeom prst="rect">
            <a:avLst/>
          </a:prstGeom>
          <a:solidFill>
            <a:srgbClr val="E8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574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C8F0"/>
                </a:solidFill>
                <a:latin typeface="Segoe UI"/>
              </a:rPr>
              <a:t>2D Game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3134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C8F0"/>
                </a:solidFill>
                <a:latin typeface="Segoe UI"/>
              </a:rPr>
              <a:t>Game Loop, Physics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56946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C8F0"/>
                </a:solidFill>
                <a:latin typeface="Segoe UI"/>
              </a:rPr>
              <a:t>TileMap, Cinemachine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005840"/>
            <a:ext cx="2834640" cy="2286000"/>
          </a:xfrm>
          <a:prstGeom prst="rect">
            <a:avLst/>
          </a:prstGeom>
          <a:solidFill>
            <a:srgbClr val="1E1A3A"/>
          </a:solidFill>
          <a:ln w="25400">
            <a:solidFill>
              <a:srgbClr val="A0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1097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Segoe UI"/>
              </a:rPr>
              <a:t>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05CFF"/>
                </a:solidFill>
                <a:latin typeface="Segoe UI"/>
              </a:rPr>
              <a:t>C# (C-Sharp)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40" y="1993392"/>
            <a:ext cx="1920240" cy="27432"/>
          </a:xfrm>
          <a:prstGeom prst="rect">
            <a:avLst/>
          </a:prstGeom>
          <a:solidFill>
            <a:srgbClr val="A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20574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C8F0"/>
                </a:solidFill>
                <a:latin typeface="Segoe UI"/>
              </a:rPr>
              <a:t>Ngôn ngữ lập trình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3134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C8F0"/>
                </a:solidFill>
                <a:latin typeface="Segoe UI"/>
              </a:rPr>
              <a:t>OOP, Events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56946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C8F0"/>
                </a:solidFill>
                <a:latin typeface="Segoe UI"/>
              </a:rPr>
              <a:t>Coroutine, LINQ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005840"/>
            <a:ext cx="2834640" cy="2286000"/>
          </a:xfrm>
          <a:prstGeom prst="rect">
            <a:avLst/>
          </a:prstGeom>
          <a:solidFill>
            <a:srgbClr val="1E1A3A"/>
          </a:solidFill>
          <a:ln w="25400">
            <a:solidFill>
              <a:srgbClr val="3DE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097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Segoe UI"/>
              </a:rPr>
              <a:t>🗃️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DE8D0"/>
                </a:solidFill>
                <a:latin typeface="Segoe UI"/>
              </a:rPr>
              <a:t>ScriptableObject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1993392"/>
            <a:ext cx="1920240" cy="27432"/>
          </a:xfrm>
          <a:prstGeom prst="rect">
            <a:avLst/>
          </a:prstGeom>
          <a:solidFill>
            <a:srgbClr val="3D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0574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C8F0"/>
                </a:solidFill>
                <a:latin typeface="Segoe UI"/>
              </a:rPr>
              <a:t>Lưu trữ dữ liệu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134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C8F0"/>
                </a:solidFill>
                <a:latin typeface="Segoe UI"/>
              </a:rPr>
              <a:t>ItemData, Recipes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56946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C8F0"/>
                </a:solidFill>
                <a:latin typeface="Segoe UI"/>
              </a:rPr>
              <a:t>NPC Dialogs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26880" y="1005840"/>
            <a:ext cx="2834640" cy="2286000"/>
          </a:xfrm>
          <a:prstGeom prst="rect">
            <a:avLst/>
          </a:prstGeom>
          <a:solidFill>
            <a:srgbClr val="1E1A3A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1097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Segoe UI"/>
              </a:rPr>
              <a:t>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35"/>
                </a:solidFill>
                <a:latin typeface="Segoe UI"/>
              </a:rPr>
              <a:t>Firebase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84080" y="1993392"/>
            <a:ext cx="192024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05740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C8F0"/>
                </a:solidFill>
                <a:latin typeface="Segoe UI"/>
              </a:rPr>
              <a:t>Tài liệu tham khảo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231343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C8F0"/>
                </a:solidFill>
                <a:latin typeface="Segoe UI"/>
              </a:rPr>
              <a:t>Cloud Firestore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256946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C8F0"/>
                </a:solidFill>
                <a:latin typeface="Segoe UI"/>
              </a:rPr>
              <a:t>RealtimeDatabase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474720"/>
            <a:ext cx="2834640" cy="2286000"/>
          </a:xfrm>
          <a:prstGeom prst="rect">
            <a:avLst/>
          </a:prstGeom>
          <a:solidFill>
            <a:srgbClr val="1E1A3A"/>
          </a:solidFill>
          <a:ln w="25400">
            <a:solidFill>
              <a:srgbClr val="E8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566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Segoe UI"/>
              </a:rPr>
              <a:t>🗺️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4069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8A01E"/>
                </a:solidFill>
                <a:latin typeface="Segoe UI"/>
              </a:rPr>
              <a:t>TileMap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462272"/>
            <a:ext cx="1920240" cy="27432"/>
          </a:xfrm>
          <a:prstGeom prst="rect">
            <a:avLst/>
          </a:prstGeom>
          <a:solidFill>
            <a:srgbClr val="E8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5262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C8F0"/>
                </a:solidFill>
                <a:latin typeface="Segoe UI"/>
              </a:rPr>
              <a:t>Thiết kế Level 2D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47823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C8F0"/>
                </a:solidFill>
                <a:latin typeface="Segoe UI"/>
              </a:rPr>
              <a:t>Grid-based map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50383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C8F0"/>
                </a:solidFill>
                <a:latin typeface="Segoe UI"/>
              </a:rPr>
              <a:t>Collider tích hợp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91840" y="3474720"/>
            <a:ext cx="2834640" cy="2286000"/>
          </a:xfrm>
          <a:prstGeom prst="rect">
            <a:avLst/>
          </a:prstGeom>
          <a:solidFill>
            <a:srgbClr val="1E1A3A"/>
          </a:solidFill>
          <a:ln w="25400">
            <a:solidFill>
              <a:srgbClr val="A0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83280" y="3566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Segoe UI"/>
              </a:rPr>
              <a:t>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4069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05CFF"/>
                </a:solidFill>
                <a:latin typeface="Segoe UI"/>
              </a:rPr>
              <a:t>Aseprite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49040" y="4462272"/>
            <a:ext cx="1920240" cy="27432"/>
          </a:xfrm>
          <a:prstGeom prst="rect">
            <a:avLst/>
          </a:prstGeom>
          <a:solidFill>
            <a:srgbClr val="A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83280" y="45262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C8F0"/>
                </a:solidFill>
                <a:latin typeface="Segoe UI"/>
              </a:rPr>
              <a:t>Vẽ Pixel Art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0" y="47823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C8F0"/>
                </a:solidFill>
                <a:latin typeface="Segoe UI"/>
              </a:rPr>
              <a:t>Animation Sprite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83280" y="50383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C8F0"/>
                </a:solidFill>
                <a:latin typeface="Segoe UI"/>
              </a:rPr>
              <a:t>Export spritesheet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3474720"/>
            <a:ext cx="2834640" cy="2286000"/>
          </a:xfrm>
          <a:prstGeom prst="rect">
            <a:avLst/>
          </a:prstGeom>
          <a:solidFill>
            <a:srgbClr val="1E1A3A"/>
          </a:solidFill>
          <a:ln w="25400">
            <a:solidFill>
              <a:srgbClr val="3DE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3566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Segoe UI"/>
              </a:rPr>
              <a:t>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4069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DE8D0"/>
                </a:solidFill>
                <a:latin typeface="Segoe UI"/>
              </a:rPr>
              <a:t>TextMeshPro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66560" y="4462272"/>
            <a:ext cx="1920240" cy="27432"/>
          </a:xfrm>
          <a:prstGeom prst="rect">
            <a:avLst/>
          </a:prstGeom>
          <a:solidFill>
            <a:srgbClr val="3D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0" y="45262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C8F0"/>
                </a:solidFill>
                <a:latin typeface="Segoe UI"/>
              </a:rPr>
              <a:t>Hiển thị UI text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47823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C8F0"/>
                </a:solidFill>
                <a:latin typeface="Segoe UI"/>
              </a:rPr>
              <a:t>Font tùy chỉnh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50383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C8F0"/>
                </a:solidFill>
                <a:latin typeface="Segoe UI"/>
              </a:rPr>
              <a:t>Vietnamese support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26880" y="3474720"/>
            <a:ext cx="2834640" cy="2286000"/>
          </a:xfrm>
          <a:prstGeom prst="rect">
            <a:avLst/>
          </a:prstGeom>
          <a:solidFill>
            <a:srgbClr val="1E1A3A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18320" y="35661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Segoe UI"/>
              </a:rPr>
              <a:t>🏊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18320" y="4069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35"/>
                </a:solidFill>
                <a:latin typeface="Segoe UI"/>
              </a:rPr>
              <a:t>Object Pooling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784080" y="4462272"/>
            <a:ext cx="192024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418320" y="45262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C8F0"/>
                </a:solidFill>
                <a:latin typeface="Segoe UI"/>
              </a:rPr>
              <a:t>Tối ưu Performance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18320" y="47823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C8F0"/>
                </a:solidFill>
                <a:latin typeface="Segoe UI"/>
              </a:rPr>
              <a:t>Tái sử dụng object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18320" y="503834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C8F0"/>
                </a:solidFill>
                <a:latin typeface="Segoe UI"/>
              </a:rPr>
              <a:t>Không Destroy liên tục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A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0" y="91440"/>
            <a:ext cx="667512" cy="365760"/>
          </a:xfrm>
          <a:prstGeom prst="rect">
            <a:avLst/>
          </a:prstGeom>
          <a:solidFill>
            <a:srgbClr val="3D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67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0D1A"/>
                </a:solidFill>
                <a:latin typeface="Segoe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DE8D0"/>
                </a:solidFill>
                <a:latin typeface="Segoe UI"/>
              </a:rPr>
              <a:t>🏰  GIỚI THIỆU GAME  —  CULINARIA ABYSS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777240"/>
            <a:ext cx="10972800" cy="36576"/>
          </a:xfrm>
          <a:prstGeom prst="rect">
            <a:avLst/>
          </a:prstGeom>
          <a:solidFill>
            <a:srgbClr val="3D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11612880" cy="502920"/>
          </a:xfrm>
          <a:prstGeom prst="rect">
            <a:avLst/>
          </a:prstGeom>
          <a:solidFill>
            <a:srgbClr val="2A1055"/>
          </a:solidFill>
          <a:ln w="12700">
            <a:solidFill>
              <a:srgbClr val="E8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8A01E"/>
                </a:solidFill>
                <a:latin typeface="Segoe UI"/>
              </a:rPr>
              <a:t>🎮 Thể loại: 2D Action RPG  ·  Dungeon Crawler  ·  Survival  ·  Crafting/Cooking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600200"/>
            <a:ext cx="5394960" cy="4572000"/>
          </a:xfrm>
          <a:prstGeom prst="rect">
            <a:avLst/>
          </a:prstGeom>
          <a:solidFill>
            <a:srgbClr val="1E1A3A"/>
          </a:solidFill>
          <a:ln w="12700">
            <a:solidFill>
              <a:srgbClr val="A0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6916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5CFF"/>
                </a:solidFill>
                <a:latin typeface="Segoe UI"/>
              </a:rPr>
              <a:t>📖  CỐT TRUYỆN &amp; THẾ GIỚI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75688"/>
            <a:ext cx="5212080" cy="27432"/>
          </a:xfrm>
          <a:prstGeom prst="rect">
            <a:avLst/>
          </a:prstGeom>
          <a:solidFill>
            <a:srgbClr val="A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19456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C8F0"/>
                </a:solidFill>
                <a:latin typeface="Segoe UI"/>
              </a:rPr>
              <a:t>Người chơi vào vai một đầu bếp phiêu lưu,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46888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C8F0"/>
                </a:solidFill>
                <a:latin typeface="Segoe UI"/>
              </a:rPr>
              <a:t>vượt qua 6 tầng hầm ngục nguy hiểm để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74320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C8F0"/>
                </a:solidFill>
                <a:latin typeface="Segoe UI"/>
              </a:rPr>
              <a:t>tìm kiếm nguyên liệu quý hiếm.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29184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C8F0"/>
                </a:solidFill>
                <a:latin typeface="Segoe UI"/>
              </a:rPr>
              <a:t>🗺️  Bản đồ: 1 Sảnh hội (Guild Hub)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56616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C8F0"/>
                </a:solidFill>
                <a:latin typeface="Segoe UI"/>
              </a:rPr>
              <a:t>         + 6 tầng hầm ngục (dungeon)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11480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C8F0"/>
                </a:solidFill>
                <a:latin typeface="Segoe UI"/>
              </a:rPr>
              <a:t>👾  13+ loại quái vật đa dạng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38912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C8F0"/>
                </a:solidFill>
                <a:latin typeface="Segoe UI"/>
              </a:rPr>
              <a:t>🐉  3 Boss cực mạnh canh giữ tầng cuối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93776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C8F0"/>
                </a:solidFill>
                <a:latin typeface="Segoe UI"/>
              </a:rPr>
              <a:t>⚡  Cơ chế Roguelite: Reset khi chết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21208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C8F0"/>
                </a:solidFill>
                <a:latin typeface="Segoe UI"/>
              </a:rPr>
              <a:t>    → Tạo áp lực &amp; chiến thuật sinh tồn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76072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C8F0"/>
                </a:solidFill>
                <a:latin typeface="Segoe UI"/>
              </a:rPr>
              <a:t>💰  Chỉ lưu số tiền Vàng (Coins) giữa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03504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C8F0"/>
                </a:solidFill>
                <a:latin typeface="Segoe UI"/>
              </a:rPr>
              <a:t>    các lần chơi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1600200"/>
            <a:ext cx="5943600" cy="4572000"/>
          </a:xfrm>
          <a:prstGeom prst="rect">
            <a:avLst/>
          </a:prstGeom>
          <a:solidFill>
            <a:srgbClr val="1E1A3A"/>
          </a:solidFill>
          <a:ln w="12700">
            <a:solidFill>
              <a:srgbClr val="E8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16916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A01E"/>
                </a:solidFill>
                <a:latin typeface="Segoe UI"/>
              </a:rPr>
              <a:t>🔄  VÒNG LẶP GAMEPLAY (Game Loop)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2075688"/>
            <a:ext cx="5760720" cy="27432"/>
          </a:xfrm>
          <a:prstGeom prst="rect">
            <a:avLst/>
          </a:prstGeom>
          <a:solidFill>
            <a:srgbClr val="E8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35040" y="2194560"/>
            <a:ext cx="5577840" cy="594360"/>
          </a:xfrm>
          <a:prstGeom prst="rect">
            <a:avLst/>
          </a:prstGeom>
          <a:solidFill>
            <a:srgbClr val="221A40"/>
          </a:solidFill>
          <a:ln w="12700">
            <a:solidFill>
              <a:srgbClr val="3DE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2240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DE8D0"/>
                </a:solidFill>
                <a:latin typeface="Segoe UI"/>
              </a:rPr>
              <a:t>1️⃣  KHÁM PHÁ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3134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C8F0"/>
                </a:solidFill>
                <a:latin typeface="Segoe UI"/>
              </a:rPr>
              <a:t>Đi vào hầm ngục, tìm đường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2862072"/>
            <a:ext cx="5577840" cy="594360"/>
          </a:xfrm>
          <a:prstGeom prst="rect">
            <a:avLst/>
          </a:prstGeom>
          <a:solidFill>
            <a:srgbClr val="221A40"/>
          </a:solidFill>
          <a:ln w="12700">
            <a:solidFill>
              <a:srgbClr val="E8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29077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A01E"/>
                </a:solidFill>
                <a:latin typeface="Segoe UI"/>
              </a:rPr>
              <a:t>2️⃣  CHIẾN ĐẤU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298094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C8F0"/>
                </a:solidFill>
                <a:latin typeface="Segoe UI"/>
              </a:rPr>
              <a:t>Tiêu diệt quái vật &amp; Boss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3529584"/>
            <a:ext cx="5577840" cy="594360"/>
          </a:xfrm>
          <a:prstGeom prst="rect">
            <a:avLst/>
          </a:prstGeom>
          <a:solidFill>
            <a:srgbClr val="221A40"/>
          </a:solidFill>
          <a:ln w="12700">
            <a:solidFill>
              <a:srgbClr val="A0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35753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5CFF"/>
                </a:solidFill>
                <a:latin typeface="Segoe UI"/>
              </a:rPr>
              <a:t>3️⃣  THU THẬP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364845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C8F0"/>
                </a:solidFill>
                <a:latin typeface="Segoe UI"/>
              </a:rPr>
              <a:t>Nhặt nguyên liệu, vật phẩm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4197096"/>
            <a:ext cx="5577840" cy="594360"/>
          </a:xfrm>
          <a:prstGeom prst="rect">
            <a:avLst/>
          </a:prstGeom>
          <a:solidFill>
            <a:srgbClr val="221A40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42428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C00"/>
                </a:solidFill>
                <a:latin typeface="Segoe UI"/>
              </a:rPr>
              <a:t>4️⃣  NẤU ĂN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43159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C8F0"/>
                </a:solidFill>
                <a:latin typeface="Segoe UI"/>
              </a:rPr>
              <a:t>Chế tạo món ăn hồi máu &amp; buff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4864608"/>
            <a:ext cx="5577840" cy="594360"/>
          </a:xfrm>
          <a:prstGeom prst="rect">
            <a:avLst/>
          </a:prstGeom>
          <a:solidFill>
            <a:srgbClr val="221A40"/>
          </a:solidFill>
          <a:ln w="12700">
            <a:solidFill>
              <a:srgbClr val="3DE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0" y="49103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DE8D0"/>
                </a:solidFill>
                <a:latin typeface="Segoe UI"/>
              </a:rPr>
              <a:t>5️⃣  SINH TỒN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4983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C8F0"/>
                </a:solidFill>
                <a:latin typeface="Segoe UI"/>
              </a:rPr>
              <a:t>Quản lý kho đồ, mua tại Shop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5532120"/>
            <a:ext cx="5577840" cy="594360"/>
          </a:xfrm>
          <a:prstGeom prst="rect">
            <a:avLst/>
          </a:prstGeom>
          <a:solidFill>
            <a:srgbClr val="221A40"/>
          </a:solidFill>
          <a:ln w="12700">
            <a:solidFill>
              <a:srgbClr val="E8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26480" y="5577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A01E"/>
                </a:solidFill>
                <a:latin typeface="Segoe UI"/>
              </a:rPr>
              <a:t>6️⃣  TIẾN SÂU HƠN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56509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C8F0"/>
                </a:solidFill>
                <a:latin typeface="Segoe UI"/>
              </a:rPr>
              <a:t>Chinh phục tầng tiếp theo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D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8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0" y="91440"/>
            <a:ext cx="667512" cy="365760"/>
          </a:xfrm>
          <a:prstGeom prst="rect">
            <a:avLst/>
          </a:prstGeom>
          <a:solidFill>
            <a:srgbClr val="E8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67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0D1A"/>
                </a:solidFill>
                <a:latin typeface="Segoe U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DE8D0"/>
                </a:solidFill>
                <a:latin typeface="Segoe UI"/>
              </a:rPr>
              <a:t>📊  PHÂN TÍCH YÊU CẦU HỆ THỐNG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777240"/>
            <a:ext cx="10972800" cy="36576"/>
          </a:xfrm>
          <a:prstGeom prst="rect">
            <a:avLst/>
          </a:prstGeom>
          <a:solidFill>
            <a:srgbClr val="3D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960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A01E"/>
                </a:solidFill>
                <a:latin typeface="Segoe UI"/>
              </a:rPr>
              <a:t>📋  CÁC USE CASE CHÍNH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5669280" cy="384048"/>
          </a:xfrm>
          <a:prstGeom prst="rect">
            <a:avLst/>
          </a:prstGeom>
          <a:solidFill>
            <a:srgbClr val="1E1A3A"/>
          </a:solidFill>
          <a:ln w="12700">
            <a:solidFill>
              <a:srgbClr val="A0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264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5CFF"/>
                </a:solidFill>
                <a:latin typeface="Segoe UI"/>
              </a:rPr>
              <a:t>UC-01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4264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Di chuyển nhân vật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426464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C8F0"/>
                </a:solidFill>
                <a:latin typeface="Segoe UI"/>
              </a:rPr>
              <a:t>Nhảy, đi lại, leo trèo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801368"/>
            <a:ext cx="5669280" cy="384048"/>
          </a:xfrm>
          <a:prstGeom prst="rect">
            <a:avLst/>
          </a:prstGeom>
          <a:solidFill>
            <a:srgbClr val="1E1A3A"/>
          </a:solidFill>
          <a:ln w="12700">
            <a:solidFill>
              <a:srgbClr val="A0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85623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5CFF"/>
                </a:solidFill>
                <a:latin typeface="Segoe UI"/>
              </a:rPr>
              <a:t>UC-02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18562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Tấn công &amp; Phòng thủ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185623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C8F0"/>
                </a:solidFill>
                <a:latin typeface="Segoe UI"/>
              </a:rPr>
              <a:t>Đòn thường, chặn đỡ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231136"/>
            <a:ext cx="5669280" cy="384048"/>
          </a:xfrm>
          <a:prstGeom prst="rect">
            <a:avLst/>
          </a:prstGeom>
          <a:solidFill>
            <a:srgbClr val="1E1A3A"/>
          </a:solidFill>
          <a:ln w="12700">
            <a:solidFill>
              <a:srgbClr val="A0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2860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5CFF"/>
                </a:solidFill>
                <a:latin typeface="Segoe UI"/>
              </a:rPr>
              <a:t>UC-03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Quản lý Kho đồ (Inventory)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2860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C8F0"/>
                </a:solidFill>
                <a:latin typeface="Segoe UI"/>
              </a:rPr>
              <a:t>30 ô, kéo thả vật phẩm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660904"/>
            <a:ext cx="5669280" cy="384048"/>
          </a:xfrm>
          <a:prstGeom prst="rect">
            <a:avLst/>
          </a:prstGeom>
          <a:solidFill>
            <a:srgbClr val="1E1A3A"/>
          </a:solidFill>
          <a:ln w="12700">
            <a:solidFill>
              <a:srgbClr val="A0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71576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5CFF"/>
                </a:solidFill>
                <a:latin typeface="Segoe UI"/>
              </a:rPr>
              <a:t>UC-04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2715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Nấu ăn &amp; Chế tạo (Crafting)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271576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C8F0"/>
                </a:solidFill>
                <a:latin typeface="Segoe UI"/>
              </a:rPr>
              <a:t>Kiểm tra công thức độc lập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090672"/>
            <a:ext cx="5669280" cy="384048"/>
          </a:xfrm>
          <a:prstGeom prst="rect">
            <a:avLst/>
          </a:prstGeom>
          <a:solidFill>
            <a:srgbClr val="1E1A3A"/>
          </a:solidFill>
          <a:ln w="12700">
            <a:solidFill>
              <a:srgbClr val="A0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314553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5CFF"/>
                </a:solidFill>
                <a:latin typeface="Segoe UI"/>
              </a:rPr>
              <a:t>UC-05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31455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Mua bán tại Shop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314553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C8F0"/>
                </a:solidFill>
                <a:latin typeface="Segoe UI"/>
              </a:rPr>
              <a:t>Giao dịch với NPC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520440"/>
            <a:ext cx="5669280" cy="384048"/>
          </a:xfrm>
          <a:prstGeom prst="rect">
            <a:avLst/>
          </a:prstGeom>
          <a:solidFill>
            <a:srgbClr val="1E1A3A"/>
          </a:solidFill>
          <a:ln w="12700">
            <a:solidFill>
              <a:srgbClr val="A0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357530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5CFF"/>
                </a:solidFill>
                <a:latin typeface="Segoe UI"/>
              </a:rPr>
              <a:t>UC-06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35753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Tương tác NPC &amp; Hội thoại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3575304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C8F0"/>
                </a:solidFill>
                <a:latin typeface="Segoe UI"/>
              </a:rPr>
              <a:t>Dialog system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950208"/>
            <a:ext cx="5669280" cy="384048"/>
          </a:xfrm>
          <a:prstGeom prst="rect">
            <a:avLst/>
          </a:prstGeom>
          <a:solidFill>
            <a:srgbClr val="1E1A3A"/>
          </a:solidFill>
          <a:ln w="12700">
            <a:solidFill>
              <a:srgbClr val="A0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40050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5CFF"/>
                </a:solidFill>
                <a:latin typeface="Segoe UI"/>
              </a:rPr>
              <a:t>UC-07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8720" y="4005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AI Quái vật (FSM)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400507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C8F0"/>
                </a:solidFill>
                <a:latin typeface="Segoe UI"/>
              </a:rPr>
              <a:t>Idle, Patrol, Attack states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379976"/>
            <a:ext cx="5669280" cy="384048"/>
          </a:xfrm>
          <a:prstGeom prst="rect">
            <a:avLst/>
          </a:prstGeom>
          <a:solidFill>
            <a:srgbClr val="1E1A3A"/>
          </a:solidFill>
          <a:ln w="12700">
            <a:solidFill>
              <a:srgbClr val="A0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44348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5CFF"/>
                </a:solidFill>
                <a:latin typeface="Segoe UI"/>
              </a:rPr>
              <a:t>UC-08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4434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Dịch chuyển giữa các Scene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0440" y="44348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C8F0"/>
                </a:solidFill>
                <a:latin typeface="Segoe UI"/>
              </a:rPr>
              <a:t>SceneManager loading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809744"/>
            <a:ext cx="5669280" cy="384048"/>
          </a:xfrm>
          <a:prstGeom prst="rect">
            <a:avLst/>
          </a:prstGeom>
          <a:solidFill>
            <a:srgbClr val="1E1A3A"/>
          </a:solidFill>
          <a:ln w="12700">
            <a:solidFill>
              <a:srgbClr val="A0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486460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5CFF"/>
                </a:solidFill>
                <a:latin typeface="Segoe UI"/>
              </a:rPr>
              <a:t>UC-09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4864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Sương mù tầm nhìn (FogOfWar)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20440" y="486460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C8F0"/>
                </a:solidFill>
                <a:latin typeface="Segoe UI"/>
              </a:rPr>
              <a:t>Overlay shader/mask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239512"/>
            <a:ext cx="5669280" cy="384048"/>
          </a:xfrm>
          <a:prstGeom prst="rect">
            <a:avLst/>
          </a:prstGeom>
          <a:solidFill>
            <a:srgbClr val="1E1A3A"/>
          </a:solidFill>
          <a:ln w="12700">
            <a:solidFill>
              <a:srgbClr val="A0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52943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5CFF"/>
                </a:solidFill>
                <a:latin typeface="Segoe UI"/>
              </a:rPr>
              <a:t>UC-10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52943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Tương tác Vật phẩm thế giới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20440" y="529437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C8F0"/>
                </a:solidFill>
                <a:latin typeface="Segoe UI"/>
              </a:rPr>
              <a:t>Pickup, drop items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0" y="960120"/>
            <a:ext cx="5760720" cy="1828800"/>
          </a:xfrm>
          <a:prstGeom prst="rect">
            <a:avLst/>
          </a:prstGeom>
          <a:solidFill>
            <a:srgbClr val="1E1A3A"/>
          </a:solidFill>
          <a:ln w="12700">
            <a:solidFill>
              <a:srgbClr val="E8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0" y="102412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A01E"/>
                </a:solidFill>
                <a:latin typeface="Segoe UI"/>
              </a:rPr>
              <a:t>👥  TÁC NHÂN HỆ THỐNG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1417320"/>
            <a:ext cx="5577840" cy="27432"/>
          </a:xfrm>
          <a:prstGeom prst="rect">
            <a:avLst/>
          </a:prstGeom>
          <a:solidFill>
            <a:srgbClr val="E8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20" y="150876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C8F0"/>
                </a:solidFill>
                <a:latin typeface="Segoe UI"/>
              </a:rPr>
              <a:t>🧑‍🍳  Người chơi (Player)  —  Nhân vật chính, tương tác toàn bộ game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7920" y="1810512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C8F0"/>
                </a:solidFill>
                <a:latin typeface="Segoe UI"/>
              </a:rPr>
              <a:t>👾  Quái vật / Boss  —  AI tự động theo FSM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2112264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C8F0"/>
                </a:solidFill>
                <a:latin typeface="Segoe UI"/>
              </a:rPr>
              <a:t>🤖  NPC / Shop  —  Bán hàng, thoại, cung cấp nhiệm vụ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0" y="2414016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C8F0"/>
                </a:solidFill>
                <a:latin typeface="Segoe UI"/>
              </a:rPr>
              <a:t>⚙️  Hệ thống Game  —  Scene, Spawn, Sound, UI Manager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26480" y="2926080"/>
            <a:ext cx="5760720" cy="1188720"/>
          </a:xfrm>
          <a:prstGeom prst="rect">
            <a:avLst/>
          </a:prstGeom>
          <a:solidFill>
            <a:srgbClr val="1E1A3A"/>
          </a:solidFill>
          <a:ln w="12700">
            <a:solidFill>
              <a:srgbClr val="3DE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17920" y="299923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E8D0"/>
                </a:solidFill>
                <a:latin typeface="Segoe UI"/>
              </a:rPr>
              <a:t>💾  CƠ SỞ DỮ LIỆU LƯU TRỮ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0" y="3337560"/>
            <a:ext cx="5577840" cy="27432"/>
          </a:xfrm>
          <a:prstGeom prst="rect">
            <a:avLst/>
          </a:prstGeom>
          <a:solidFill>
            <a:srgbClr val="3D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17920" y="340156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C8F0"/>
                </a:solidFill>
                <a:latin typeface="Segoe UI"/>
              </a:rPr>
              <a:t>• Sử dụng PlayerPrefs (Local Storage) của Unity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0" y="367588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C8F0"/>
                </a:solidFill>
                <a:latin typeface="Segoe UI"/>
              </a:rPr>
              <a:t>• Lưu trữ duy nhất: số Tiền Vàng (Coins) qua key 'coin'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7920" y="395020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C8F0"/>
                </a:solidFill>
                <a:latin typeface="Segoe UI"/>
              </a:rPr>
              <a:t>• Cơ chế Roguelite: Máu &amp; Kho đồ reset khi chết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0" y="4251960"/>
            <a:ext cx="5760720" cy="2286000"/>
          </a:xfrm>
          <a:prstGeom prst="rect">
            <a:avLst/>
          </a:prstGeom>
          <a:solidFill>
            <a:srgbClr val="1E1A3A"/>
          </a:solidFill>
          <a:ln w="12700">
            <a:solidFill>
              <a:srgbClr val="A0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17920" y="432511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5CFF"/>
                </a:solidFill>
                <a:latin typeface="Segoe UI"/>
              </a:rPr>
              <a:t>🏗️  KIẾN TRÚC &amp; DESIGN PATTERNS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217920" y="4663440"/>
            <a:ext cx="5577840" cy="27432"/>
          </a:xfrm>
          <a:prstGeom prst="rect">
            <a:avLst/>
          </a:prstGeom>
          <a:solidFill>
            <a:srgbClr val="A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17920" y="47274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🔵  Singleton: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12480" y="47274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C8F0"/>
                </a:solidFill>
                <a:latin typeface="Segoe UI"/>
              </a:rPr>
              <a:t>InventoryManager, SoundManager, UIManager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17920" y="51206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🟣  FSM: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12480" y="5120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C8F0"/>
                </a:solidFill>
                <a:latin typeface="Segoe UI"/>
              </a:rPr>
              <a:t>AI quái vật: Idle → Patrol → Attack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0" y="55138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🟡  Observer/Event: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12480" y="55138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C8F0"/>
                </a:solidFill>
                <a:latin typeface="Segoe UI"/>
              </a:rPr>
              <a:t>SpawnManager lắng nghe SceneLoaded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17920" y="59070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🟢  ScriptableObject: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12480" y="59070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C8F0"/>
                </a:solidFill>
                <a:latin typeface="Segoe UI"/>
              </a:rPr>
              <a:t>ItemData, CraftingRecipe, NPCDialogs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3D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0" y="91440"/>
            <a:ext cx="667512" cy="365760"/>
          </a:xfrm>
          <a:prstGeom prst="rect">
            <a:avLst/>
          </a:prstGeom>
          <a:solidFill>
            <a:srgbClr val="3D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67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0D1A"/>
                </a:solidFill>
                <a:latin typeface="Segoe U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A01E"/>
                </a:solidFill>
                <a:latin typeface="Segoe UI"/>
              </a:rPr>
              <a:t>⚙️  CÁC HỆ THỐNG GAME CHÍNH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777240"/>
            <a:ext cx="10972800" cy="36576"/>
          </a:xfrm>
          <a:prstGeom prst="rect">
            <a:avLst/>
          </a:prstGeom>
          <a:solidFill>
            <a:srgbClr val="E8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3749039" cy="2331720"/>
          </a:xfrm>
          <a:prstGeom prst="rect">
            <a:avLst/>
          </a:prstGeom>
          <a:solidFill>
            <a:srgbClr val="1E1A3A"/>
          </a:solidFill>
          <a:ln w="25400">
            <a:solidFill>
              <a:srgbClr val="E8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60120"/>
            <a:ext cx="3749039" cy="64008"/>
          </a:xfrm>
          <a:prstGeom prst="rect">
            <a:avLst/>
          </a:prstGeom>
          <a:solidFill>
            <a:srgbClr val="E8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05156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1E"/>
                </a:solidFill>
                <a:latin typeface="Segoe UI"/>
              </a:rPr>
              <a:t>⚔️  HỆ THỐNG CHIẾN ĐẤU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35608"/>
            <a:ext cx="3566159" cy="27432"/>
          </a:xfrm>
          <a:prstGeom prst="rect">
            <a:avLst/>
          </a:prstGeom>
          <a:solidFill>
            <a:srgbClr val="E8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527048"/>
            <a:ext cx="3547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C8F0"/>
                </a:solidFill>
                <a:latin typeface="Segoe UI"/>
              </a:rPr>
              <a:t>• Di chuyển: Chạy, Nhảy, Crouch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911096"/>
            <a:ext cx="3547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C8F0"/>
                </a:solidFill>
                <a:latin typeface="Segoe UI"/>
              </a:rPr>
              <a:t>• Tấn công cận chiến cơ bản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295144"/>
            <a:ext cx="3547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C8F0"/>
                </a:solidFill>
                <a:latin typeface="Segoe UI"/>
              </a:rPr>
              <a:t>• Phòng thủ (Shield): giảm sát thương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679192"/>
            <a:ext cx="3547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C8F0"/>
                </a:solidFill>
                <a:latin typeface="Segoe UI"/>
              </a:rPr>
              <a:t>• Hệ thống máu &amp; sát thương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39" y="960120"/>
            <a:ext cx="3749039" cy="2331720"/>
          </a:xfrm>
          <a:prstGeom prst="rect">
            <a:avLst/>
          </a:prstGeom>
          <a:solidFill>
            <a:srgbClr val="1E1A3A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6239" y="960120"/>
            <a:ext cx="3749039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79" y="105156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  <a:latin typeface="Segoe UI"/>
              </a:rPr>
              <a:t>🍳  NẤU ĂN &amp; CHẾ TẠO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79" y="1435608"/>
            <a:ext cx="3566159" cy="2743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7" y="1527048"/>
            <a:ext cx="3547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C8F0"/>
                </a:solidFill>
                <a:latin typeface="Segoe UI"/>
              </a:rPr>
              <a:t>• Kiểm tra công thức độc lập thứ tự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7" y="1911096"/>
            <a:ext cx="3547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C8F0"/>
                </a:solidFill>
                <a:latin typeface="Segoe UI"/>
              </a:rPr>
              <a:t>• 30+ vật phẩm nguyên liệu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5967" y="2295144"/>
            <a:ext cx="3547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C8F0"/>
                </a:solidFill>
                <a:latin typeface="Segoe UI"/>
              </a:rPr>
              <a:t>• Món ăn hồi máu &amp; buff stats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5967" y="2679192"/>
            <a:ext cx="3547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C8F0"/>
                </a:solidFill>
                <a:latin typeface="Segoe UI"/>
              </a:rPr>
              <a:t>• Tích hợp trực tiếp Gameplay Loop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58" y="960120"/>
            <a:ext cx="3749039" cy="2331720"/>
          </a:xfrm>
          <a:prstGeom prst="rect">
            <a:avLst/>
          </a:prstGeom>
          <a:solidFill>
            <a:srgbClr val="1E1A3A"/>
          </a:solidFill>
          <a:ln w="25400">
            <a:solidFill>
              <a:srgbClr val="3DE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58" y="960120"/>
            <a:ext cx="3749039" cy="64008"/>
          </a:xfrm>
          <a:prstGeom prst="rect">
            <a:avLst/>
          </a:prstGeom>
          <a:solidFill>
            <a:srgbClr val="3D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8" y="105156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DE8D0"/>
                </a:solidFill>
                <a:latin typeface="Segoe UI"/>
              </a:rPr>
              <a:t>🎒  KHO ĐỒ (INVENTORY)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598" y="1435608"/>
            <a:ext cx="3566159" cy="27432"/>
          </a:xfrm>
          <a:prstGeom prst="rect">
            <a:avLst/>
          </a:prstGeom>
          <a:solidFill>
            <a:srgbClr val="3D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6" y="1527048"/>
            <a:ext cx="3547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C8F0"/>
                </a:solidFill>
                <a:latin typeface="Segoe UI"/>
              </a:rPr>
              <a:t>• 30 ô lưu trữ vật phẩm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6" y="1911096"/>
            <a:ext cx="3547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C8F0"/>
                </a:solidFill>
                <a:latin typeface="Segoe UI"/>
              </a:rPr>
              <a:t>• Recyclable Scroll Rect (tối ưu render)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7886" y="2295144"/>
            <a:ext cx="3547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C8F0"/>
                </a:solidFill>
                <a:latin typeface="Segoe UI"/>
              </a:rPr>
              <a:t>• Dùng được, xem thông tin vật phẩm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6" y="2679192"/>
            <a:ext cx="3547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C8F0"/>
                </a:solidFill>
                <a:latin typeface="Segoe UI"/>
              </a:rPr>
              <a:t>• Phân loại: Nguyên liệu, Thức ăn, Trang bị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474720"/>
            <a:ext cx="3749039" cy="2331720"/>
          </a:xfrm>
          <a:prstGeom prst="rect">
            <a:avLst/>
          </a:prstGeom>
          <a:solidFill>
            <a:srgbClr val="1E1A3A"/>
          </a:solidFill>
          <a:ln w="25400">
            <a:solidFill>
              <a:srgbClr val="A0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3474720"/>
            <a:ext cx="3749039" cy="64008"/>
          </a:xfrm>
          <a:prstGeom prst="rect">
            <a:avLst/>
          </a:prstGeom>
          <a:solidFill>
            <a:srgbClr val="A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56616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5CFF"/>
                </a:solidFill>
                <a:latin typeface="Segoe UI"/>
              </a:rPr>
              <a:t>👾  AI QUÁI VẬT (FSM)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950208"/>
            <a:ext cx="3566159" cy="27432"/>
          </a:xfrm>
          <a:prstGeom prst="rect">
            <a:avLst/>
          </a:prstGeom>
          <a:solidFill>
            <a:srgbClr val="A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4041648"/>
            <a:ext cx="3547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C8F0"/>
                </a:solidFill>
                <a:latin typeface="Segoe UI"/>
              </a:rPr>
              <a:t>• 3 trạng thái: Idle → Patrol → Attack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" y="4425696"/>
            <a:ext cx="3547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C8F0"/>
                </a:solidFill>
                <a:latin typeface="Segoe UI"/>
              </a:rPr>
              <a:t>• Phát hiện qua EnemySight (trigger)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" y="4809744"/>
            <a:ext cx="3547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C8F0"/>
                </a:solidFill>
                <a:latin typeface="Segoe UI"/>
              </a:rPr>
              <a:t>• Mất dấu → về Idle sau thời gian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5193792"/>
            <a:ext cx="3547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C8F0"/>
                </a:solidFill>
                <a:latin typeface="Segoe UI"/>
              </a:rPr>
              <a:t>• 13+ loại quái  &amp;  3 Boss đặc biệt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39" y="3474720"/>
            <a:ext cx="3749039" cy="2331720"/>
          </a:xfrm>
          <a:prstGeom prst="rect">
            <a:avLst/>
          </a:prstGeom>
          <a:solidFill>
            <a:srgbClr val="1E1A3A"/>
          </a:solidFill>
          <a:ln w="25400">
            <a:solidFill>
              <a:srgbClr val="3DE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06239" y="3474720"/>
            <a:ext cx="3749039" cy="64008"/>
          </a:xfrm>
          <a:prstGeom prst="rect">
            <a:avLst/>
          </a:prstGeom>
          <a:solidFill>
            <a:srgbClr val="3D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97679" y="356616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DE8D0"/>
                </a:solidFill>
                <a:latin typeface="Segoe UI"/>
              </a:rPr>
              <a:t>🌫️  SƯƠNG MÙ TẦM NHÌN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79" y="3950208"/>
            <a:ext cx="3566159" cy="27432"/>
          </a:xfrm>
          <a:prstGeom prst="rect">
            <a:avLst/>
          </a:prstGeom>
          <a:solidFill>
            <a:srgbClr val="3D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15967" y="4041648"/>
            <a:ext cx="3547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C8F0"/>
                </a:solidFill>
                <a:latin typeface="Segoe UI"/>
              </a:rPr>
              <a:t>• Fog of War overlay shader/mask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15967" y="4425696"/>
            <a:ext cx="3547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C8F0"/>
                </a:solidFill>
                <a:latin typeface="Segoe UI"/>
              </a:rPr>
              <a:t>• Vùng sáng cập nhật theo Player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15967" y="4809744"/>
            <a:ext cx="3547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C8F0"/>
                </a:solidFill>
                <a:latin typeface="Segoe UI"/>
              </a:rPr>
              <a:t>• Tạo yếu tố khám phá hấp dẫn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15967" y="5193792"/>
            <a:ext cx="3547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C8F0"/>
                </a:solidFill>
                <a:latin typeface="Segoe UI"/>
              </a:rPr>
              <a:t>• Tăng tính căng thẳng gameplay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38158" y="3474720"/>
            <a:ext cx="3749039" cy="2331720"/>
          </a:xfrm>
          <a:prstGeom prst="rect">
            <a:avLst/>
          </a:prstGeom>
          <a:solidFill>
            <a:srgbClr val="1E1A3A"/>
          </a:solidFill>
          <a:ln w="25400">
            <a:solidFill>
              <a:srgbClr val="E8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38158" y="3474720"/>
            <a:ext cx="3749039" cy="64008"/>
          </a:xfrm>
          <a:prstGeom prst="rect">
            <a:avLst/>
          </a:prstGeom>
          <a:solidFill>
            <a:srgbClr val="E8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598" y="356616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A01E"/>
                </a:solidFill>
                <a:latin typeface="Segoe UI"/>
              </a:rPr>
              <a:t>🏪  SHOP &amp; NPC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598" y="3950208"/>
            <a:ext cx="3566159" cy="27432"/>
          </a:xfrm>
          <a:prstGeom prst="rect">
            <a:avLst/>
          </a:prstGeom>
          <a:solidFill>
            <a:srgbClr val="E8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47886" y="4041648"/>
            <a:ext cx="3547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C8F0"/>
                </a:solidFill>
                <a:latin typeface="Segoe UI"/>
              </a:rPr>
              <a:t>• Mua bán vật phẩm bằng Coin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47886" y="4425696"/>
            <a:ext cx="3547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C8F0"/>
                </a:solidFill>
                <a:latin typeface="Segoe UI"/>
              </a:rPr>
              <a:t>• Dialog system với NPC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47886" y="4809744"/>
            <a:ext cx="3547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C8F0"/>
                </a:solidFill>
                <a:latin typeface="Segoe UI"/>
              </a:rPr>
              <a:t>• Singleton ShopController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47886" y="5193792"/>
            <a:ext cx="354787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C8F0"/>
                </a:solidFill>
                <a:latin typeface="Segoe UI"/>
              </a:rPr>
              <a:t>• Spawn Manager qua SceneLoaded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A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8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0" y="91440"/>
            <a:ext cx="667512" cy="365760"/>
          </a:xfrm>
          <a:prstGeom prst="rect">
            <a:avLst/>
          </a:prstGeom>
          <a:solidFill>
            <a:srgbClr val="A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67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A05CFF"/>
                </a:solidFill>
                <a:latin typeface="Segoe UI"/>
              </a:rPr>
              <a:t>🖥️  DEMO GIAO DIỆN &amp; GAMEPLAY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777240"/>
            <a:ext cx="10972800" cy="36576"/>
          </a:xfrm>
          <a:prstGeom prst="rect">
            <a:avLst/>
          </a:prstGeom>
          <a:solidFill>
            <a:srgbClr val="A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60120"/>
            <a:ext cx="3749039" cy="2560320"/>
          </a:xfrm>
          <a:prstGeom prst="rect">
            <a:avLst/>
          </a:prstGeom>
          <a:solidFill>
            <a:srgbClr val="1E1A3A"/>
          </a:solidFill>
          <a:ln w="25400">
            <a:solidFill>
              <a:srgbClr val="E8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60120"/>
            <a:ext cx="3749039" cy="64008"/>
          </a:xfrm>
          <a:prstGeom prst="rect">
            <a:avLst/>
          </a:prstGeom>
          <a:solidFill>
            <a:srgbClr val="E8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097280"/>
            <a:ext cx="3474719" cy="1463040"/>
          </a:xfrm>
          <a:prstGeom prst="rect">
            <a:avLst/>
          </a:prstGeom>
          <a:solidFill>
            <a:srgbClr val="151225"/>
          </a:solidFill>
          <a:ln w="12700">
            <a:solidFill>
              <a:srgbClr val="E8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80160"/>
            <a:ext cx="34747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latin typeface="Segoe UI"/>
              </a:rPr>
              <a:t>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05740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04080"/>
                </a:solidFill>
                <a:latin typeface="Segoe UI"/>
              </a:rPr>
              <a:t>[Screenshot]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69748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A01E"/>
                </a:solidFill>
                <a:latin typeface="Segoe UI"/>
              </a:rPr>
              <a:t>Main Menu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81528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C8F0"/>
                </a:solidFill>
                <a:latin typeface="Segoe UI"/>
              </a:rPr>
              <a:t>Màn hình chính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291840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C8F0"/>
                </a:solidFill>
                <a:latin typeface="Segoe UI"/>
              </a:rPr>
              <a:t>(Start / Exit)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39" y="960120"/>
            <a:ext cx="3749039" cy="2560320"/>
          </a:xfrm>
          <a:prstGeom prst="rect">
            <a:avLst/>
          </a:prstGeom>
          <a:solidFill>
            <a:srgbClr val="1E1A3A"/>
          </a:solidFill>
          <a:ln w="25400">
            <a:solidFill>
              <a:srgbClr val="3DE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6239" y="960120"/>
            <a:ext cx="3749039" cy="64008"/>
          </a:xfrm>
          <a:prstGeom prst="rect">
            <a:avLst/>
          </a:prstGeom>
          <a:solidFill>
            <a:srgbClr val="3D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399" y="1097280"/>
            <a:ext cx="3474719" cy="1463040"/>
          </a:xfrm>
          <a:prstGeom prst="rect">
            <a:avLst/>
          </a:prstGeom>
          <a:solidFill>
            <a:srgbClr val="151225"/>
          </a:solidFill>
          <a:ln w="12700">
            <a:solidFill>
              <a:srgbClr val="3DE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399" y="1280160"/>
            <a:ext cx="34747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latin typeface="Segoe UI"/>
              </a:rPr>
              <a:t>🏛️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399" y="205740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04080"/>
                </a:solidFill>
                <a:latin typeface="Segoe UI"/>
              </a:rPr>
              <a:t>[Screenshot]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79" y="269748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E8D0"/>
                </a:solidFill>
                <a:latin typeface="Segoe UI"/>
              </a:rPr>
              <a:t>Guild 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79" y="3081528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C8F0"/>
                </a:solidFill>
                <a:latin typeface="Segoe UI"/>
              </a:rPr>
              <a:t>Sảnh hội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79" y="3291840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C8F0"/>
                </a:solidFill>
                <a:latin typeface="Segoe UI"/>
              </a:rPr>
              <a:t>Mua sắm &amp; chuẩn bị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58" y="960120"/>
            <a:ext cx="3749039" cy="2560320"/>
          </a:xfrm>
          <a:prstGeom prst="rect">
            <a:avLst/>
          </a:prstGeom>
          <a:solidFill>
            <a:srgbClr val="1E1A3A"/>
          </a:solidFill>
          <a:ln w="25400">
            <a:solidFill>
              <a:srgbClr val="A0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58" y="960120"/>
            <a:ext cx="3749039" cy="64008"/>
          </a:xfrm>
          <a:prstGeom prst="rect">
            <a:avLst/>
          </a:prstGeom>
          <a:solidFill>
            <a:srgbClr val="A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18" y="1097280"/>
            <a:ext cx="3474719" cy="1463040"/>
          </a:xfrm>
          <a:prstGeom prst="rect">
            <a:avLst/>
          </a:prstGeom>
          <a:solidFill>
            <a:srgbClr val="151225"/>
          </a:solidFill>
          <a:ln w="12700">
            <a:solidFill>
              <a:srgbClr val="A0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18" y="1280160"/>
            <a:ext cx="34747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latin typeface="Segoe UI"/>
              </a:rPr>
              <a:t>⚔️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18" y="205740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04080"/>
                </a:solidFill>
                <a:latin typeface="Segoe UI"/>
              </a:rPr>
              <a:t>[Screenshot]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8" y="269748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5CFF"/>
                </a:solidFill>
                <a:latin typeface="Segoe UI"/>
              </a:rPr>
              <a:t>Gameplay HUD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8" y="3081528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C8F0"/>
                </a:solidFill>
                <a:latin typeface="Segoe UI"/>
              </a:rPr>
              <a:t>Thanh máu, Coin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8" y="3291840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C8F0"/>
                </a:solidFill>
                <a:latin typeface="Segoe UI"/>
              </a:rPr>
              <a:t>Fog of War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657600"/>
            <a:ext cx="3749039" cy="2560320"/>
          </a:xfrm>
          <a:prstGeom prst="rect">
            <a:avLst/>
          </a:prstGeom>
          <a:solidFill>
            <a:srgbClr val="1E1A3A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3657600"/>
            <a:ext cx="3749039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3794760"/>
            <a:ext cx="3474719" cy="1463040"/>
          </a:xfrm>
          <a:prstGeom prst="rect">
            <a:avLst/>
          </a:prstGeom>
          <a:solidFill>
            <a:srgbClr val="151225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3977640"/>
            <a:ext cx="34747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latin typeface="Segoe UI"/>
              </a:rPr>
              <a:t>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475488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04080"/>
                </a:solidFill>
                <a:latin typeface="Segoe UI"/>
              </a:rPr>
              <a:t>[Screenshot]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539496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  <a:latin typeface="Segoe UI"/>
              </a:rPr>
              <a:t>Inventory &amp; Cooking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5779008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C8F0"/>
                </a:solidFill>
                <a:latin typeface="Segoe UI"/>
              </a:rPr>
              <a:t>Kho đồ 30 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5989320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C8F0"/>
                </a:solidFill>
                <a:latin typeface="Segoe UI"/>
              </a:rPr>
              <a:t>&amp; Bếp nấu ăn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39" y="3657600"/>
            <a:ext cx="3749039" cy="2560320"/>
          </a:xfrm>
          <a:prstGeom prst="rect">
            <a:avLst/>
          </a:prstGeom>
          <a:solidFill>
            <a:srgbClr val="1E1A3A"/>
          </a:solidFill>
          <a:ln w="25400">
            <a:solidFill>
              <a:srgbClr val="3DE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06239" y="3657600"/>
            <a:ext cx="3749039" cy="64008"/>
          </a:xfrm>
          <a:prstGeom prst="rect">
            <a:avLst/>
          </a:prstGeom>
          <a:solidFill>
            <a:srgbClr val="3D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399" y="3794760"/>
            <a:ext cx="3474719" cy="1463040"/>
          </a:xfrm>
          <a:prstGeom prst="rect">
            <a:avLst/>
          </a:prstGeom>
          <a:solidFill>
            <a:srgbClr val="151225"/>
          </a:solidFill>
          <a:ln w="12700">
            <a:solidFill>
              <a:srgbClr val="3DE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43399" y="3977640"/>
            <a:ext cx="34747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latin typeface="Segoe UI"/>
              </a:rPr>
              <a:t>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399" y="475488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04080"/>
                </a:solidFill>
                <a:latin typeface="Segoe UI"/>
              </a:rPr>
              <a:t>[Screenshot]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79" y="539496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E8D0"/>
                </a:solidFill>
                <a:latin typeface="Segoe UI"/>
              </a:rPr>
              <a:t>NPC Dialog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79" y="5779008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C8F0"/>
                </a:solidFill>
                <a:latin typeface="Segoe UI"/>
              </a:rPr>
              <a:t>Hội thoại NPC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97679" y="5989320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C8F0"/>
                </a:solidFill>
                <a:latin typeface="Segoe UI"/>
              </a:rPr>
              <a:t>&amp; Shop giao dịch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38158" y="3657600"/>
            <a:ext cx="3749039" cy="2560320"/>
          </a:xfrm>
          <a:prstGeom prst="rect">
            <a:avLst/>
          </a:prstGeom>
          <a:solidFill>
            <a:srgbClr val="1E1A3A"/>
          </a:solidFill>
          <a:ln w="25400">
            <a:solidFill>
              <a:srgbClr val="E8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38158" y="3657600"/>
            <a:ext cx="3749039" cy="64008"/>
          </a:xfrm>
          <a:prstGeom prst="rect">
            <a:avLst/>
          </a:prstGeom>
          <a:solidFill>
            <a:srgbClr val="E8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75318" y="3794760"/>
            <a:ext cx="3474719" cy="1463040"/>
          </a:xfrm>
          <a:prstGeom prst="rect">
            <a:avLst/>
          </a:prstGeom>
          <a:solidFill>
            <a:srgbClr val="151225"/>
          </a:solidFill>
          <a:ln w="12700">
            <a:solidFill>
              <a:srgbClr val="E8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75318" y="3977640"/>
            <a:ext cx="347471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latin typeface="Segoe UI"/>
              </a:rPr>
              <a:t>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18" y="4754880"/>
            <a:ext cx="3474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504080"/>
                </a:solidFill>
                <a:latin typeface="Segoe UI"/>
              </a:rPr>
              <a:t>[Screenshot]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598" y="5394960"/>
            <a:ext cx="3566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A01E"/>
                </a:solidFill>
                <a:latin typeface="Segoe UI"/>
              </a:rPr>
              <a:t>Boss Battle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598" y="5779008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C8F0"/>
                </a:solidFill>
                <a:latin typeface="Segoe UI"/>
              </a:rPr>
              <a:t>Boss Demon Slime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598" y="5989320"/>
            <a:ext cx="35661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4C8F0"/>
                </a:solidFill>
                <a:latin typeface="Segoe UI"/>
              </a:rPr>
              <a:t>Minotaurus, Gruz Mother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05090"/>
                </a:solidFill>
                <a:latin typeface="Segoe UI"/>
              </a:rPr>
              <a:t>💡 Ghi chú: Có thể chèn ảnh chụp màn hình thực tế vào các ô trên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2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D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E8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0" y="91440"/>
            <a:ext cx="667512" cy="365760"/>
          </a:xfrm>
          <a:prstGeom prst="rect">
            <a:avLst/>
          </a:prstGeom>
          <a:solidFill>
            <a:srgbClr val="E8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67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0D1A"/>
                </a:solidFill>
                <a:latin typeface="Segoe U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A01E"/>
                </a:solidFill>
                <a:latin typeface="Segoe UI"/>
              </a:rPr>
              <a:t>📊  KẾT QUẢ ĐẠT ĐƯỢC &amp; ĐÁNH GIÁ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777240"/>
            <a:ext cx="10972800" cy="36576"/>
          </a:xfrm>
          <a:prstGeom prst="rect">
            <a:avLst/>
          </a:prstGeom>
          <a:solidFill>
            <a:srgbClr val="E8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11612880" cy="594360"/>
          </a:xfrm>
          <a:prstGeom prst="rect">
            <a:avLst/>
          </a:prstGeom>
          <a:solidFill>
            <a:srgbClr val="2A1055"/>
          </a:solidFill>
          <a:ln w="12700">
            <a:solidFill>
              <a:srgbClr val="E8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960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8A01E"/>
                </a:solidFill>
                <a:latin typeface="Segoe UI"/>
              </a:rPr>
              <a:t>🎯  Hoàn thành ước tính:  ~85–90%  của các mục tiêu đề 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75520" y="1024128"/>
            <a:ext cx="1828800" cy="320040"/>
          </a:xfrm>
          <a:prstGeom prst="rect">
            <a:avLst/>
          </a:prstGeom>
          <a:solidFill>
            <a:srgbClr val="202020"/>
          </a:solidFill>
          <a:ln w="12700">
            <a:solidFill>
              <a:srgbClr val="E8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75520" y="1024128"/>
            <a:ext cx="1600200" cy="320040"/>
          </a:xfrm>
          <a:prstGeom prst="rect">
            <a:avLst/>
          </a:prstGeom>
          <a:solidFill>
            <a:srgbClr val="3D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0" y="10241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0D1A"/>
                </a:solidFill>
                <a:latin typeface="Segoe UI"/>
              </a:rPr>
              <a:t>87%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645920"/>
            <a:ext cx="5486400" cy="4389120"/>
          </a:xfrm>
          <a:prstGeom prst="rect">
            <a:avLst/>
          </a:prstGeom>
          <a:solidFill>
            <a:srgbClr val="1E1A3A"/>
          </a:solidFill>
          <a:ln w="12700">
            <a:solidFill>
              <a:srgbClr val="3DE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737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DE8D0"/>
                </a:solidFill>
                <a:latin typeface="Segoe UI"/>
              </a:rPr>
              <a:t>✅  KẾT QUẢ ĐẠT ĐƯỢC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30552"/>
            <a:ext cx="5303520" cy="27432"/>
          </a:xfrm>
          <a:prstGeom prst="rect">
            <a:avLst/>
          </a:prstGeom>
          <a:solidFill>
            <a:srgbClr val="3D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2402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C8F0"/>
                </a:solidFill>
                <a:latin typeface="Segoe UI"/>
              </a:rPr>
              <a:t>✔ Game 2D Action Platformer mượt mà, build ổn định trên PC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6243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C8F0"/>
                </a:solidFill>
                <a:latin typeface="Segoe UI"/>
              </a:rPr>
              <a:t>✔ AI quái vật hoạt động đầy đủ: Idle, Patrol, Attack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00837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C8F0"/>
                </a:solidFill>
                <a:latin typeface="Segoe UI"/>
              </a:rPr>
              <a:t>✔ Hệ thống Crafting/Cooking hoàn chỉnh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39242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C8F0"/>
                </a:solidFill>
                <a:latin typeface="Segoe UI"/>
              </a:rPr>
              <a:t>✔ Kho đồ Inventory 30 ô + Shop giao dịch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7764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C8F0"/>
                </a:solidFill>
                <a:latin typeface="Segoe UI"/>
              </a:rPr>
              <a:t>✔ Fog of War (Sương mù tầm nhìn) hoạt động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1605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C8F0"/>
                </a:solidFill>
                <a:latin typeface="Segoe UI"/>
              </a:rPr>
              <a:t>✔ 6 tầng hầm ngục + 1 Sảnh hội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5445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C8F0"/>
                </a:solidFill>
                <a:latin typeface="Segoe UI"/>
              </a:rPr>
              <a:t>✔ 13+ quái vật + 3 Boss đa dạng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92861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C8F0"/>
                </a:solidFill>
                <a:latin typeface="Segoe UI"/>
              </a:rPr>
              <a:t>✔ Object Pooling: tối ưu hiệu năng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31266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C8F0"/>
                </a:solidFill>
                <a:latin typeface="Segoe UI"/>
              </a:rPr>
              <a:t>✔ NPC Dialog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6967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C8F0"/>
                </a:solidFill>
                <a:latin typeface="Segoe UI"/>
              </a:rPr>
              <a:t>✔ Áp dụng đúng các Design Patterns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1645920"/>
            <a:ext cx="5943600" cy="1920240"/>
          </a:xfrm>
          <a:prstGeom prst="rect">
            <a:avLst/>
          </a:prstGeom>
          <a:solidFill>
            <a:srgbClr val="1E1A3A"/>
          </a:solidFill>
          <a:ln w="12700">
            <a:solidFill>
              <a:srgbClr val="FF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1737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080"/>
                </a:solidFill>
                <a:latin typeface="Segoe UI"/>
              </a:rPr>
              <a:t>⚠️  HẠN CHẾ CÒN TỒN TẠI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2130552"/>
            <a:ext cx="5760720" cy="27432"/>
          </a:xfrm>
          <a:prstGeom prst="rect">
            <a:avLst/>
          </a:prstGeom>
          <a:solidFill>
            <a:srgbClr val="FF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2240280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C0C0"/>
                </a:solidFill>
                <a:latin typeface="Segoe UI"/>
              </a:rPr>
              <a:t>⚠ Save/Load đơn giản — chỉ lưu số Coins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2587752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C0C0"/>
                </a:solidFill>
                <a:latin typeface="Segoe UI"/>
              </a:rPr>
              <a:t>⚠ Chưa có hệ thống kỹ năng (Skill Tree)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2935224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C0C0"/>
                </a:solidFill>
                <a:latin typeface="Segoe UI"/>
              </a:rPr>
              <a:t>⚠ Nhạc nền chưa đầy đủ cho từng tầng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3282696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C0C0"/>
                </a:solidFill>
                <a:latin typeface="Segoe UI"/>
              </a:rPr>
              <a:t>⚠ Chỉ cận chiến, chưa có vũ khí tầm xa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3703320"/>
            <a:ext cx="5943600" cy="2331720"/>
          </a:xfrm>
          <a:prstGeom prst="rect">
            <a:avLst/>
          </a:prstGeom>
          <a:solidFill>
            <a:srgbClr val="1E1A3A"/>
          </a:solidFill>
          <a:ln w="12700">
            <a:solidFill>
              <a:srgbClr val="A0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37947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5CFF"/>
                </a:solidFill>
                <a:latin typeface="Segoe UI"/>
              </a:rPr>
              <a:t>🚀  HƯỚNG PHÁT TRIỂN TƯƠNG LAI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4187952"/>
            <a:ext cx="5760720" cy="27432"/>
          </a:xfrm>
          <a:prstGeom prst="rect">
            <a:avLst/>
          </a:prstGeom>
          <a:solidFill>
            <a:srgbClr val="A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4279392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C8F0"/>
                </a:solidFill>
                <a:latin typeface="Segoe UI"/>
              </a:rPr>
              <a:t>🔮 Tích hợp Firebase / JSON Serialization để lưu trữ đầy đủ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4626864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C8F0"/>
                </a:solidFill>
                <a:latin typeface="Segoe UI"/>
              </a:rPr>
              <a:t>🌳 Phát triển cây kỹ năng (Skill Tree) qua EXP &amp; thức ăn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4974336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C8F0"/>
                </a:solidFill>
                <a:latin typeface="Segoe UI"/>
              </a:rPr>
              <a:t>📋 Hệ thống Nhiệm vụ (Quest System) với NPC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5321808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C8F0"/>
                </a:solidFill>
                <a:latin typeface="Segoe UI"/>
              </a:rPr>
              <a:t>📱 Tối ưu Mobile: Joystick ảo → build Android/iOS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5669280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4C8F0"/>
                </a:solidFill>
                <a:latin typeface="Segoe UI"/>
              </a:rPr>
              <a:t>🗺️ Mở rộng vũ khí, áo giáp, tầng hầm sâu hơn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A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0" y="91440"/>
            <a:ext cx="667512" cy="365760"/>
          </a:xfrm>
          <a:prstGeom prst="rect">
            <a:avLst/>
          </a:prstGeom>
          <a:solidFill>
            <a:srgbClr val="A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91440"/>
            <a:ext cx="667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A01E"/>
                </a:solidFill>
                <a:latin typeface="Segoe UI"/>
              </a:rPr>
              <a:t>📝  KẾT LUẬN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777240"/>
            <a:ext cx="10972800" cy="36576"/>
          </a:xfrm>
          <a:prstGeom prst="rect">
            <a:avLst/>
          </a:prstGeom>
          <a:solidFill>
            <a:srgbClr val="E8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11274552" cy="1097280"/>
          </a:xfrm>
          <a:prstGeom prst="rect">
            <a:avLst/>
          </a:prstGeom>
          <a:solidFill>
            <a:srgbClr val="1A1035"/>
          </a:solidFill>
          <a:ln w="25400">
            <a:solidFill>
              <a:srgbClr val="E8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914400"/>
            <a:ext cx="91440" cy="1097280"/>
          </a:xfrm>
          <a:prstGeom prst="rect">
            <a:avLst/>
          </a:prstGeom>
          <a:solidFill>
            <a:srgbClr val="E8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98755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Segoe UI"/>
              </a:rPr>
              <a:t>"Culinaria Abyss" là sản phẩm game 2D hoàn chỉnh, thể hiện khả năng
vận dụng kiến thức công nghệ phần mềm vào phát triển game thực tế.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148840"/>
            <a:ext cx="5486400" cy="1325880"/>
          </a:xfrm>
          <a:prstGeom prst="rect">
            <a:avLst/>
          </a:prstGeom>
          <a:solidFill>
            <a:srgbClr val="1E1A3A"/>
          </a:solidFill>
          <a:ln w="12700">
            <a:solidFill>
              <a:srgbClr val="A0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240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E8D0"/>
                </a:solidFill>
                <a:latin typeface="Segoe UI"/>
              </a:rPr>
              <a:t>🎓  Kiến thức áp dụng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24328"/>
            <a:ext cx="5303520" cy="27432"/>
          </a:xfrm>
          <a:prstGeom prst="rect">
            <a:avLst/>
          </a:prstGeom>
          <a:solidFill>
            <a:srgbClr val="A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6974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C8F0"/>
                </a:solidFill>
                <a:latin typeface="Segoe UI"/>
              </a:rPr>
              <a:t>Singleton, FSM, Observer, ScriptableObject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99008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C8F0"/>
                </a:solidFill>
                <a:latin typeface="Segoe UI"/>
              </a:rPr>
              <a:t>Object Pooling, TileMap, Cinemachine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611880"/>
            <a:ext cx="5486400" cy="1325880"/>
          </a:xfrm>
          <a:prstGeom prst="rect">
            <a:avLst/>
          </a:prstGeom>
          <a:solidFill>
            <a:srgbClr val="1E1A3A"/>
          </a:solidFill>
          <a:ln w="12700">
            <a:solidFill>
              <a:srgbClr val="A0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703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E8D0"/>
                </a:solidFill>
                <a:latin typeface="Segoe UI"/>
              </a:rPr>
              <a:t>🎮  Kỹ năng phát triển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87368"/>
            <a:ext cx="5303520" cy="27432"/>
          </a:xfrm>
          <a:prstGeom prst="rect">
            <a:avLst/>
          </a:prstGeom>
          <a:solidFill>
            <a:srgbClr val="A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16052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C8F0"/>
                </a:solidFill>
                <a:latin typeface="Segoe UI"/>
              </a:rPr>
              <a:t>Unity C# — Từ khái niệm → Sản phẩm hoàn chỉnh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45312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C8F0"/>
                </a:solidFill>
                <a:latin typeface="Segoe UI"/>
              </a:rPr>
              <a:t>Phân tích, thiết kế, kiểm thử game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074920"/>
            <a:ext cx="5486400" cy="1325880"/>
          </a:xfrm>
          <a:prstGeom prst="rect">
            <a:avLst/>
          </a:prstGeom>
          <a:solidFill>
            <a:srgbClr val="1E1A3A"/>
          </a:solidFill>
          <a:ln w="12700">
            <a:solidFill>
              <a:srgbClr val="A0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166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E8D0"/>
                </a:solidFill>
                <a:latin typeface="Segoe UI"/>
              </a:rPr>
              <a:t>📐  Phân tích &amp; Thiết kế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550408"/>
            <a:ext cx="5303520" cy="27432"/>
          </a:xfrm>
          <a:prstGeom prst="rect">
            <a:avLst/>
          </a:prstGeom>
          <a:solidFill>
            <a:srgbClr val="A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62356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C8F0"/>
                </a:solidFill>
                <a:latin typeface="Segoe UI"/>
              </a:rPr>
              <a:t>Use Case 10 chức năng, Activity &amp; Sequence Diagrams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91616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C8F0"/>
                </a:solidFill>
                <a:latin typeface="Segoe UI"/>
              </a:rPr>
              <a:t>Kiến trúc hệ thống rõ ràng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2148840"/>
            <a:ext cx="5486400" cy="1325880"/>
          </a:xfrm>
          <a:prstGeom prst="rect">
            <a:avLst/>
          </a:prstGeom>
          <a:solidFill>
            <a:srgbClr val="1E1A3A"/>
          </a:solidFill>
          <a:ln w="12700">
            <a:solidFill>
              <a:srgbClr val="A0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2240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E8D0"/>
                </a:solidFill>
                <a:latin typeface="Segoe UI"/>
              </a:rPr>
              <a:t>🌟  Điểm nổi bật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2624328"/>
            <a:ext cx="5303520" cy="27432"/>
          </a:xfrm>
          <a:prstGeom prst="rect">
            <a:avLst/>
          </a:prstGeom>
          <a:solidFill>
            <a:srgbClr val="A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26974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C8F0"/>
                </a:solidFill>
                <a:latin typeface="Segoe UI"/>
              </a:rPr>
              <a:t>Hệ thống Crafting độc lập thứ tự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99008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C8F0"/>
                </a:solidFill>
                <a:latin typeface="Segoe UI"/>
              </a:rPr>
              <a:t>Fog of War &amp; AI FSM hoàn chỉnh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3611880"/>
            <a:ext cx="5486400" cy="1325880"/>
          </a:xfrm>
          <a:prstGeom prst="rect">
            <a:avLst/>
          </a:prstGeom>
          <a:solidFill>
            <a:srgbClr val="1E1A3A"/>
          </a:solidFill>
          <a:ln w="12700">
            <a:solidFill>
              <a:srgbClr val="A0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3703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E8D0"/>
                </a:solidFill>
                <a:latin typeface="Segoe UI"/>
              </a:rPr>
              <a:t>📦  Quy mô dự án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087368"/>
            <a:ext cx="5303520" cy="27432"/>
          </a:xfrm>
          <a:prstGeom prst="rect">
            <a:avLst/>
          </a:prstGeom>
          <a:solidFill>
            <a:srgbClr val="A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416052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C8F0"/>
                </a:solidFill>
                <a:latin typeface="Segoe UI"/>
              </a:rPr>
              <a:t>6 tầng + 1 Sảnh | 13+ quái | 3 Boss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45312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C8F0"/>
                </a:solidFill>
                <a:latin typeface="Segoe UI"/>
              </a:rPr>
              <a:t>30 ô Inventory | 30+ vật phẩm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5074920"/>
            <a:ext cx="5486400" cy="1325880"/>
          </a:xfrm>
          <a:prstGeom prst="rect">
            <a:avLst/>
          </a:prstGeom>
          <a:solidFill>
            <a:srgbClr val="1E1A3A"/>
          </a:solidFill>
          <a:ln w="12700">
            <a:solidFill>
              <a:srgbClr val="A0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5166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E8D0"/>
                </a:solidFill>
                <a:latin typeface="Segoe UI"/>
              </a:rPr>
              <a:t>🚀  Định hướng tương lai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5550408"/>
            <a:ext cx="5303520" cy="27432"/>
          </a:xfrm>
          <a:prstGeom prst="rect">
            <a:avLst/>
          </a:prstGeom>
          <a:solidFill>
            <a:srgbClr val="A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562356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C8F0"/>
                </a:solidFill>
                <a:latin typeface="Segoe UI"/>
              </a:rPr>
              <a:t>Firebase, Quest System, Mobile Build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591616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C8F0"/>
                </a:solidFill>
                <a:latin typeface="Segoe UI"/>
              </a:rPr>
              <a:t>Skill Tree, Multiplayer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6492240"/>
            <a:ext cx="11612880" cy="228600"/>
          </a:xfrm>
          <a:prstGeom prst="rect">
            <a:avLst/>
          </a:prstGeom>
          <a:solidFill>
            <a:srgbClr val="1A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510528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060A0"/>
                </a:solidFill>
                <a:latin typeface="Segoe UI"/>
              </a:rPr>
              <a:t>🏛️ Đại học Thủy Lợi  —  Khoa CNTT  —  Đồ án tốt nghiệp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E8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A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"/>
            <a:ext cx="12188952" cy="45720"/>
          </a:xfrm>
          <a:prstGeom prst="rect">
            <a:avLst/>
          </a:prstGeom>
          <a:solidFill>
            <a:srgbClr val="A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E8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51792" y="0"/>
            <a:ext cx="137160" cy="6858000"/>
          </a:xfrm>
          <a:prstGeom prst="rect">
            <a:avLst/>
          </a:prstGeom>
          <a:solidFill>
            <a:srgbClr val="E8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88720"/>
            <a:ext cx="116403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8A01E"/>
                </a:solidFill>
                <a:latin typeface="Segoe UI"/>
              </a:rPr>
              <a:t>✦  XIN TRÂN TRỌNG CẢM ƠN!  ✦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2377440"/>
            <a:ext cx="6702552" cy="685800"/>
          </a:xfrm>
          <a:prstGeom prst="rect">
            <a:avLst/>
          </a:prstGeom>
          <a:solidFill>
            <a:srgbClr val="2A1055"/>
          </a:solidFill>
          <a:ln w="25400">
            <a:solidFill>
              <a:srgbClr val="E8A0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2450592"/>
            <a:ext cx="6702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DE8D0"/>
                </a:solidFill>
                <a:latin typeface="Segoe UI"/>
              </a:rPr>
              <a:t>🎮  CULINARIA ABYSS  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3200400"/>
            <a:ext cx="8531352" cy="36576"/>
          </a:xfrm>
          <a:prstGeom prst="rect">
            <a:avLst/>
          </a:prstGeom>
          <a:solidFill>
            <a:srgbClr val="A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33375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A01E"/>
                </a:solidFill>
                <a:latin typeface="Segoe UI"/>
              </a:rPr>
              <a:t>👤  Sinh viên: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3375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Segoe UI"/>
              </a:rPr>
              <a:t>HOÀNG MINH TUẤN  —  MSSV: 2251061914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7764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DE8D0"/>
                </a:solidFill>
                <a:latin typeface="Segoe UI"/>
              </a:rPr>
              <a:t>🏛️  Trường: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77647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C8F0"/>
                </a:solidFill>
                <a:latin typeface="Segoe UI"/>
              </a:rPr>
              <a:t>Đại học Thủy Lợi — Khoa Công nghệ Thông tin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21538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DE8D0"/>
                </a:solidFill>
                <a:latin typeface="Segoe UI"/>
              </a:rPr>
              <a:t>📚  Lớp: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215384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C8F0"/>
                </a:solidFill>
                <a:latin typeface="Segoe UI"/>
              </a:rPr>
              <a:t>64CNTT3  |  Ngành: Công nghệ Phần mềm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65429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5CFF"/>
                </a:solidFill>
                <a:latin typeface="Segoe UI"/>
              </a:rPr>
              <a:t>👨‍🏫  GVHD: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654296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4C8F0"/>
                </a:solidFill>
                <a:latin typeface="Segoe UI"/>
              </a:rPr>
              <a:t>ThS. Trương Xuân Nam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5166360"/>
            <a:ext cx="8531352" cy="36576"/>
          </a:xfrm>
          <a:prstGeom prst="rect">
            <a:avLst/>
          </a:prstGeom>
          <a:solidFill>
            <a:srgbClr val="E8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530352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A05CFF"/>
                </a:solidFill>
                <a:latin typeface="Segoe UI"/>
              </a:rPr>
              <a:t>🙋  Kính mời Hội đồng đặt câu hỏi!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0" y="5989320"/>
            <a:ext cx="5788152" cy="365760"/>
          </a:xfrm>
          <a:prstGeom prst="rect">
            <a:avLst/>
          </a:prstGeom>
          <a:solidFill>
            <a:srgbClr val="181530"/>
          </a:solidFill>
          <a:ln w="12700">
            <a:solidFill>
              <a:srgbClr val="A0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6016752"/>
            <a:ext cx="5788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DE8D0"/>
                </a:solidFill>
                <a:latin typeface="Segoe UI"/>
              </a:rPr>
              <a:t>🛠️  Unity  ·  C#  ·  TileMap  ·  Cinemachine  ·  Firebase  ·  Aseprite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